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 OF 3  •  PROJECT OVERVIEW &amp; ARCHITECTURE 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BLUSPARK: Ocean Freight Rate &amp; Shipment Tracker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Automating multi-carrier rate discovery, real-time container tracking, and 100% automated invoice discrepancy auditing.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2A1520"/>
          </a:solidFill>
          <a:ln w="19050">
            <a:solidFill>
              <a:srgbClr val="8813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20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REAL-WORLD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Manual Quoting Chaos: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teams waste 12+ hrs/week comparing static carrier sheets.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Tracking Blindspots: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delay notices are buried inside hundreds of daily operational emails.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Invoice Overcharges: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15% of freight bills contain hidden detention, demurrage, or rate mismatches.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0D2818"/>
          </a:solidFill>
          <a:ln w="19050">
            <a:solidFill>
              <a:srgbClr val="065F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920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BLUSPARK SOLUTION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22402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Unified Multi-Carrier Search: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rate comparison across 20ft &amp; 40ft containers (Maersk, MSC, etc).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Email Processing: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&amp; NLP parser automatically extracts container status and rates from emails.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3-Way Invoice Audit: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booked quotes vs billed invoices to flag discrepancies instantly.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886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APP WORKS: COMPLETE OPERATIONAL FLOWCHART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224528"/>
            <a:ext cx="1627632" cy="1783080"/>
          </a:xfrm>
          <a:prstGeom prst="roundRect">
            <a:avLst>
              <a:gd name="adj" fmla="val 4494"/>
            </a:avLst>
          </a:prstGeom>
          <a:solidFill>
            <a:srgbClr val="1E3A8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315968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Secure Login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4572000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04672" y="4791456"/>
            <a:ext cx="14813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enters credentials -&gt; Bcrypt validates -&gt; Dual 256-bit JWT access/refresh tokens issued for session.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340864" y="5001768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23744" y="4224528"/>
            <a:ext cx="1627632" cy="1783080"/>
          </a:xfrm>
          <a:prstGeom prst="roundRect">
            <a:avLst>
              <a:gd name="adj" fmla="val 4494"/>
            </a:avLst>
          </a:prstGeom>
          <a:solidFill>
            <a:srgbClr val="164E63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9464" y="4315968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Rate Discovery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60904" y="4572000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Search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596896" y="4791456"/>
            <a:ext cx="14813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selects trade lane (20ft/40ft) -&gt; App queries MongoDB -&gt; Sorts quotes by lowest rate or fastest days.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33088" y="5001768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15968" y="4224528"/>
            <a:ext cx="1627632" cy="1783080"/>
          </a:xfrm>
          <a:prstGeom prst="roundRect">
            <a:avLst>
              <a:gd name="adj" fmla="val 4494"/>
            </a:avLst>
          </a:prstGeom>
          <a:solidFill>
            <a:srgbClr val="312E81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61688" y="4315968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Book Shipment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53128" y="4572000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Cargo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389120" y="4791456"/>
            <a:ext cx="14813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records container ID, carrier &amp; contracted rate -&gt; Sets departure and expected arrival date (ETA).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925312" y="5001768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08192" y="4224528"/>
            <a:ext cx="1627632" cy="1783080"/>
          </a:xfrm>
          <a:prstGeom prst="roundRect">
            <a:avLst>
              <a:gd name="adj" fmla="val 4494"/>
            </a:avLst>
          </a:prstGeom>
          <a:solidFill>
            <a:srgbClr val="78350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53912" y="4315968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Delay Detection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45352" y="4572000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Engine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81344" y="4791456"/>
            <a:ext cx="14813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rule engine checks if Today &gt; ETA: If delayed, automatically marks status "Delayed" with alert.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717536" y="5001768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900416" y="4224528"/>
            <a:ext cx="1627632" cy="1783080"/>
          </a:xfrm>
          <a:prstGeom prst="roundRect">
            <a:avLst>
              <a:gd name="adj" fmla="val 4494"/>
            </a:avLst>
          </a:prstGeom>
          <a:solidFill>
            <a:srgbClr val="4C1D95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46136" y="4315968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Email Parsing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037576" y="4572000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Parser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973568" y="4791456"/>
            <a:ext cx="14813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 carrier emails parsed via Regex: Extracts container ID &amp; status -&gt; Updates MongoDB and activity feed.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509760" y="5001768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692640" y="4224528"/>
            <a:ext cx="1627632" cy="1783080"/>
          </a:xfrm>
          <a:prstGeom prst="roundRect">
            <a:avLst>
              <a:gd name="adj" fmla="val 4494"/>
            </a:avLst>
          </a:prstGeom>
          <a:solidFill>
            <a:srgbClr val="064E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38360" y="4315968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Invoice Audit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829800" y="4572000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Match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9765792" y="4791456"/>
            <a:ext cx="14813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Carrier invoice entered -&gt; Compares vs Contracted Rate -&gt; Flags dollar overcharges &amp; generates claim audit.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BLUSPARK Logistics Intelligence Platform • Confidential • Presentation to Judges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OF 3  •  ENGINEERING ARCHITECTURE &amp; TECH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Modern, Resilient Full-Stack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for sub-50ms query latency, bank-grade 256-bit authentication, and cloud fault tolerance.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1C2541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659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Application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Vite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19 SPA with TypeScript strict type safety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Tailwind CSS v4 for zero-runtime utility styling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Lucide React icons &amp; responsive cross-device layout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Vite bundler providing instant sub-second hot reload
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61688" y="18288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1C254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19659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REST API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98848" y="224028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22 + Express 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98848" y="251460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Node.js 22 runtime with native ES modules via tsx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Express 5 RESTful API for shipments, rates &amp; auth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CORS security middleware &amp; centralized error pipeline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Sub-35ms average JSON API response time
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991856" y="18288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1C2541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9016" y="19659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Database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29016" y="224028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 v7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129016" y="251460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MongoDB Atlas Cloud Cluster (bluspark_logistics)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Native MongoDB v7 driver with connection pooling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Flexible collections: users, shipments, rates, emails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Automatic local storage synchronization fallback
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40233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1C2541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1605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Security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443484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256-Bit JWT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" y="470916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RFC 7518-compliant 256-bit HS256 Access Secret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Dedicated 256-bit Refresh Secret (30-day session cycle)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Bcrypt.js password hashing with 10 salt rounds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Role-Based Access Control (Admin &amp; Operator roles)
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61688" y="40233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1C2541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98848" y="41605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Parsing &amp; Extraction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98848" y="443484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SheetJS + NLP Regex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98848" y="470916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SheetJS (xlsx) for multi-sheet carrier rate spreadsheets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Regex pattern extractor for arrival &amp; delay emails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categorization: Rate vs Shipment vs Irrelevant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Discrepancy calculator comparing quotes vs invoices
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991856" y="40233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1C2541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29016" y="41605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Cloud Infrastructure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29016" y="443484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AI Ready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129016" y="470916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GenAI SDK (@google/genai) integration readiness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Strict environment variable isolation via .env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Containerized architecture ready for Cloud Run / Docker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Embedded database initialization &amp; migration scripts
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BLUSPARK Logistics Intelligence Platform • Confidential • Presentation to Judges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OF 3  •  VALUE ANALYSIS, TRADE-OFFS &amp; STRATEGIC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Advantages, Trade-Offs &amp; Future Roadmap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realistic, transparent engineering analysis of our core strengths, operational boundaries, and growth strategy.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212080" cy="3200400"/>
          </a:xfrm>
          <a:prstGeom prst="roundRect">
            <a:avLst>
              <a:gd name="adj" fmla="val 2857"/>
            </a:avLst>
          </a:prstGeom>
          <a:solidFill>
            <a:srgbClr val="0D2818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659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ADVANTAGES &amp; BUSINESS ROI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4846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Zero-Leakage Invoice Auditing: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Stops rate overcharges and hidden fees, saving 8–15% on freight spend.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Automated Operational Ingestion: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Cuts 15+ hrs/week of manual spreadsheet entry by parsing emails automatically.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Proactive Delay Prevention: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Flags overdue containers instantly to reschedule trucks before port demurrage.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High Fault Tolerance &amp; Offline Mode: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MongoDB Atlas cloud with seamless local storage sync ensures zero downtime.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Bank-Grade 256-Bit Security: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Dual HS256 access &amp; refresh tokens safeguard proprietary carrier rates.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212080" cy="3200400"/>
          </a:xfrm>
          <a:prstGeom prst="roundRect">
            <a:avLst>
              <a:gd name="adj" fmla="val 2857"/>
            </a:avLst>
          </a:prstGeom>
          <a:solidFill>
            <a:srgbClr val="2A1520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9659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DISADVANTAGES &amp; TECHNICAL LIMITS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2286000"/>
            <a:ext cx="4846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Carrier Email Non-Standardization: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Different shipping lines use distinct phrasing, requiring regex pattern updates.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Cloud Database Whitelist Requirement: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MongoDB Atlas requires IP access list rules (0.0.0.0/0) to accept cross-cloud TLS.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Scanned Image-Based Invoices: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Low-resolution scanned paper receipts require OCR vision rather than plain text.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Absence of Direct Carrier EDI 310/214: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Currently uses REST, emails &amp; files instead of direct terminal EDI webhooks.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5166360"/>
            <a:ext cx="10698480" cy="960120"/>
          </a:xfrm>
          <a:prstGeom prst="roundRect">
            <a:avLst>
              <a:gd name="adj" fmla="val 7619"/>
            </a:avLst>
          </a:prstGeom>
          <a:solidFill>
            <a:srgbClr val="1C2541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5257800"/>
            <a:ext cx="10332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MITIGATIONS &amp; FUTURE ROADMAP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553212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Gemini Vision AI OCR: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Ingesting physical scanned invoices and Bills of Lading via multi-modal AI vision.   </a:t>
            </a:r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Carrier EDI Gateways: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AS2/EDI 310 &amp; 214 webhook listeners for sub-second terminal updates.   </a:t>
            </a:r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Geo-Replication: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Deploying multi-region MongoDB Atlas replica sets across US, EU &amp; Asia.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BLUSPARK Logistics Intelligence Platform • Confidential • Presentation to Judges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BLUSPARK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BLUSPARK Logistics - Judges Presentation</dc:title>
  <dc:subject>Ocean Freight Rate &amp; Shipment Tracker Pitch Deck</dc:subject>
  <dc:creator>BLUSPARK Logistics Team</dc:creator>
  <cp:lastModifiedBy>BLUSPARK Logistics Team</cp:lastModifiedBy>
  <cp:revision>1</cp:revision>
  <dcterms:created xsi:type="dcterms:W3CDTF">2026-10-11T10:07:38Z</dcterms:created>
  <dcterms:modified xsi:type="dcterms:W3CDTF">2026-10-11T10:07:38Z</dcterms:modified>
</cp:coreProperties>
</file>